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4267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A8A9"/>
                </a:solidFill>
                <a:latin typeface="Avenir"/>
                <a:ea typeface="Avenir"/>
                <a:cs typeface="Avenir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A8A9"/>
                </a:solidFill>
                <a:latin typeface="Avenir"/>
                <a:ea typeface="Avenir"/>
                <a:cs typeface="Avenir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43000"/>
            <a:ext cx="1280160" cy="54864"/>
          </a:xfrm>
          <a:prstGeom prst="rect">
            <a:avLst/>
          </a:prstGeom>
          <a:solidFill>
            <a:srgbClr val="3F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13816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Classificando a Qualidade de Vinhos com Machine Learning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30861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9DBE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Tech Challenge — Fase 2 · Storytelling da análise exploratória e resultados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443484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9A8A9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POSTECH — Data Analytics (DTAT)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443484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A8A9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Julho de 2026</a:t>
            </a:r>
            <a:endParaRPr lang="en-US" sz="12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DF4DB76D-3BA5-780D-1DC9-47F8EF672755}"/>
              </a:ext>
            </a:extLst>
          </p:cNvPr>
          <p:cNvSpPr/>
          <p:nvPr/>
        </p:nvSpPr>
        <p:spPr>
          <a:xfrm>
            <a:off x="439616" y="4114800"/>
            <a:ext cx="31195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9A8A9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Ana Paula Corrêa Galdino – RM370461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A9A8A9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SUMÁRIO EXECUTIVO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809244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 de 3 vinhos premium identificados com 90% de </a:t>
            </a:r>
            <a:r>
              <a:rPr lang="en-US" sz="2400" b="1" dirty="0" err="1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acurácia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0"/>
          </a:xfrm>
          <a:prstGeom prst="line">
            <a:avLst/>
          </a:prstGeom>
          <a:noFill/>
          <a:ln w="19050">
            <a:solidFill>
              <a:srgbClr val="3F96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73152" cy="621792"/>
          </a:xfrm>
          <a:prstGeom prst="rect">
            <a:avLst/>
          </a:prstGeom>
          <a:solidFill>
            <a:srgbClr val="3F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13232" y="169164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1. A degustação por especialistas é cara, lenta e subjetiva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198424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 modelo antecipa a classificação usando medições laboratoriais de rotina, sem custo adicional de coleta.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441448"/>
            <a:ext cx="73152" cy="621792"/>
          </a:xfrm>
          <a:prstGeom prst="rect">
            <a:avLst/>
          </a:prstGeom>
          <a:solidFill>
            <a:srgbClr val="3F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3232" y="244144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2. Apenas 13,5% dos vinhos alcançam o padrão premium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734056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 desbalanceamento guiou todo o desenho técnico: métricas, estratificação e ponderação de classes.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191256"/>
            <a:ext cx="73152" cy="621792"/>
          </a:xfrm>
          <a:prstGeom prst="rect">
            <a:avLst/>
          </a:prstGeom>
          <a:solidFill>
            <a:srgbClr val="3F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13232" y="3191256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3. Random Forest venceu três modelos comparados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" y="3483864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Acurácia de 90,2%, F1 de 0,643 e ROC AUC de 0,918 em dados nunca vistos pelo modelo.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941064"/>
            <a:ext cx="73152" cy="621792"/>
          </a:xfrm>
          <a:prstGeom prst="rect">
            <a:avLst/>
          </a:prstGeom>
          <a:solidFill>
            <a:srgbClr val="3F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13232" y="394106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4. Os direcionadores de qualidade são acionáveis na produção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3232" y="4233672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Teor alcoólico, acidez volátil e sulfatos concentram o poder preditivo, e são controláveis no processo.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A8A9"/>
                </a:solidFill>
                <a:latin typeface="Avenir"/>
                <a:ea typeface="Avenir"/>
                <a:cs typeface="Avenir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A9A8A9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CONTEXTO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Avaliar vinho por degustação é caro, lento e subjetivo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0"/>
          </a:xfrm>
          <a:prstGeom prst="line">
            <a:avLst/>
          </a:prstGeom>
          <a:noFill/>
          <a:ln w="19050">
            <a:solidFill>
              <a:srgbClr val="3F96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587752" cy="26517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2587752" cy="54864"/>
          </a:xfrm>
          <a:prstGeom prst="rect">
            <a:avLst/>
          </a:prstGeom>
          <a:solidFill>
            <a:srgbClr val="3F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F96B4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SITUAÇÃO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313432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Qualidade definida por painel sensorial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852928"/>
            <a:ext cx="2313432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Especialistas avaliam aroma, sabor e equilíbrio de cada lote — a nota define preço e posicionamento do produto.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73552" y="1691640"/>
            <a:ext cx="2587752" cy="26517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273552" y="1691640"/>
            <a:ext cx="2587752" cy="54864"/>
          </a:xfrm>
          <a:prstGeom prst="rect">
            <a:avLst/>
          </a:prstGeom>
          <a:solidFill>
            <a:srgbClr val="3F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410712" y="1828800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F96B4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COMPLICAÇÃO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10712" y="2148840"/>
            <a:ext cx="2313432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Processo não escala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10712" y="2852928"/>
            <a:ext cx="2313432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avaliação depende da agenda e da experiência dos avaliadores, varia entre painéis e chega tarde para corrigir o processo produtivo.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44184" y="1691640"/>
            <a:ext cx="2587752" cy="26517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044184" y="1691640"/>
            <a:ext cx="2587752" cy="54864"/>
          </a:xfrm>
          <a:prstGeom prst="rect">
            <a:avLst/>
          </a:prstGeom>
          <a:solidFill>
            <a:srgbClr val="3F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181344" y="1828800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F96B4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RESOLUÇÃO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81344" y="2148840"/>
            <a:ext cx="2313432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Prever a qualidade com dados de laboratório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81344" y="2852928"/>
            <a:ext cx="2313432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As medições físico-químicas já são coletadas na rotina. Um modelo preditivo transforma esses dados em classificação antecipada de cada lote.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A8A9"/>
                </a:solidFill>
                <a:latin typeface="Avenir"/>
                <a:ea typeface="Avenir"/>
                <a:cs typeface="Avenir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A9A8A9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OS DADOS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1.143 análises laboratoriais alimentam o modelo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0"/>
          </a:xfrm>
          <a:prstGeom prst="line">
            <a:avLst/>
          </a:prstGeom>
          <a:noFill/>
          <a:ln w="19050">
            <a:solidFill>
              <a:srgbClr val="3F96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901952" cy="1737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F96B4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1.143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76072" y="2697480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amostras de vinho tinto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(Wine Quality Dataset, Kaggle)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87752" y="1783080"/>
            <a:ext cx="1901952" cy="1737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587752" y="196596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F96B4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660904" y="2697480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variáveis físico-químicas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(álcool, acidez, SO₂, pH...)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72584" y="1783080"/>
            <a:ext cx="1901952" cy="1737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672584" y="196596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F96B4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745736" y="2697480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valores faltantes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na auditoria de qualidade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57416" y="1783080"/>
            <a:ext cx="1901952" cy="1737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757416" y="1965960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F96B4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125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830568" y="2697480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duplicatas removidas para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evitar vazamento de dados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794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Cada amostra recebeu de especialistas uma nota de 3 a 8. O problema foi convertido em decisão binária de negócio: </a:t>
            </a:r>
            <a:r>
              <a:rPr lang="en-US" sz="14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 lote é premium (nota ≥ 7) ou não?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4645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800" dirty="0">
                <a:solidFill>
                  <a:srgbClr val="A9A8A9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Fonte: Wine Quality Dataset — Kaggle (yasserh). Base final após limpeza: 1.018 amostras.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A8A9"/>
                </a:solidFill>
                <a:latin typeface="Avenir"/>
                <a:ea typeface="Avenir"/>
                <a:cs typeface="Avenir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A9A8A9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ANÁLISE EXPLORATÓRIA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Só 13,5% dos vinhos alcançam o padrão premium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0"/>
          </a:xfrm>
          <a:prstGeom prst="line">
            <a:avLst/>
          </a:prstGeom>
          <a:noFill/>
          <a:ln w="19050">
            <a:solidFill>
              <a:srgbClr val="3F96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/sessions/gifted-exciting-thompson/mnt/outputs/wine-quality-classification/results/01_distribuicao_variavel_al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44212"/>
            <a:ext cx="5577840" cy="20380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0" y="1737360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Por que importa
</a:t>
            </a:r>
            <a:r>
              <a:rPr lang="en-US" sz="120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Um modelo ingênuo que chamasse todos os vinhos de “comuns” acertaria 86,5% sem achar um único premium.
</a:t>
            </a:r>
            <a:r>
              <a:rPr lang="en-US" sz="13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resposta técnica
</a:t>
            </a:r>
            <a:r>
              <a:rPr lang="en-US" sz="120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Otimização por F1-score, divisão estratificada e ponderação de classes em todos os modelos.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4645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800" dirty="0">
                <a:solidFill>
                  <a:srgbClr val="A9A8A9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Fonte: análise própria sobre o Wine Quality Dataset (n = 1.018 após limpeza).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A8A9"/>
                </a:solidFill>
                <a:latin typeface="Avenir"/>
                <a:ea typeface="Avenir"/>
                <a:cs typeface="Avenir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A9A8A9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ANÁLISE EXPLORATÓRIA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Teor alcoólico é o divisor entre premium e comum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0"/>
          </a:xfrm>
          <a:prstGeom prst="line">
            <a:avLst/>
          </a:prstGeom>
          <a:noFill/>
          <a:ln w="19050">
            <a:solidFill>
              <a:srgbClr val="3F96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/sessions/gifted-exciting-thompson/mnt/outputs/wine-quality-classification/results/04_violin_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44" y="1691640"/>
            <a:ext cx="7939712" cy="2331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1148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Vinhos premium concentram-se acima de 11% vol. (mediana de 11,7% contra 10,0%) e em baixa acidez volátil. </a:t>
            </a:r>
            <a:r>
              <a:rPr lang="en-US" sz="13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Sulfatos e ácido cítrico reforçam o padrão premium.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4645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800" dirty="0">
                <a:solidFill>
                  <a:srgbClr val="A9A8A9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Fonte: análise própria. Distribuições por classe das quatro variáveis mais discriminantes.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A8A9"/>
                </a:solidFill>
                <a:latin typeface="Avenir"/>
                <a:ea typeface="Avenir"/>
                <a:cs typeface="Avenir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A9A8A9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ANÁLISE EXPLORATÓRIA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Acidez volátil é o principal marcador de defeito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0"/>
          </a:xfrm>
          <a:prstGeom prst="line">
            <a:avLst/>
          </a:prstGeom>
          <a:noFill/>
          <a:ln w="19050">
            <a:solidFill>
              <a:srgbClr val="3F96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/sessions/gifted-exciting-thompson/mnt/outputs/wine-quality-classification/results/06_correlacao_com_al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1600200"/>
            <a:ext cx="443484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0" y="173736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Leitura enológica
</a:t>
            </a:r>
            <a:r>
              <a:rPr lang="en-US" sz="120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Acidez volátil alta significa aroma avinagrado, o defeito clássico penalizado pelos avaliadores (r = −0,30).
</a:t>
            </a:r>
            <a:r>
              <a:rPr lang="en-US" sz="13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Nenhuma variável decide sozinha
</a:t>
            </a:r>
            <a:r>
              <a:rPr lang="en-US" sz="120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maior correlação individual é 0,41 (álcool); por isso são necessários modelos multivariados, capazes de capturar interações.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4645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800" dirty="0">
                <a:solidFill>
                  <a:srgbClr val="A9A8A9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Fonte: análise própria. Correlação point-biserial com a classe Alta Qualidade.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A8A9"/>
                </a:solidFill>
                <a:latin typeface="Avenir"/>
                <a:ea typeface="Avenir"/>
                <a:cs typeface="Avenir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A9A8A9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METODOLOGIA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Três modelos disputaram sob protocolo idêntico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0"/>
          </a:xfrm>
          <a:prstGeom prst="line">
            <a:avLst/>
          </a:prstGeom>
          <a:noFill/>
          <a:ln w="19050">
            <a:solidFill>
              <a:srgbClr val="3F96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691640" cy="868680"/>
          </a:xfrm>
          <a:prstGeom prst="chevron">
            <a:avLst/>
          </a:prstGeom>
          <a:solidFill>
            <a:srgbClr val="B9DB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12648" y="182880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Limpeza 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auditoria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75688" y="1828800"/>
            <a:ext cx="1691640" cy="868680"/>
          </a:xfrm>
          <a:prstGeom prst="chevron">
            <a:avLst/>
          </a:prstGeom>
          <a:solidFill>
            <a:srgbClr val="B9DB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185416" y="182880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Features novas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validadas por CV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48456" y="1828800"/>
            <a:ext cx="1691640" cy="868680"/>
          </a:xfrm>
          <a:prstGeom prst="chevron">
            <a:avLst/>
          </a:prstGeom>
          <a:solidFill>
            <a:srgbClr val="B9DB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758184" y="182880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Divisão 80/20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estratificada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21224" y="1828800"/>
            <a:ext cx="1691640" cy="868680"/>
          </a:xfrm>
          <a:prstGeom prst="chevron">
            <a:avLst/>
          </a:prstGeom>
          <a:solidFill>
            <a:srgbClr val="B9DB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30952" y="182880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Tuning com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validação cruzada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93992" y="1828800"/>
            <a:ext cx="1691640" cy="868680"/>
          </a:xfrm>
          <a:prstGeom prst="chevron">
            <a:avLst/>
          </a:prstGeom>
          <a:solidFill>
            <a:srgbClr val="3F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903720" y="182880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Avaliação em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dados inéditos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017520"/>
            <a:ext cx="73152" cy="402336"/>
          </a:xfrm>
          <a:prstGeom prst="rect">
            <a:avLst/>
          </a:prstGeom>
          <a:solidFill>
            <a:srgbClr val="3F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13232" y="3017520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Regressão Logística: </a:t>
            </a:r>
            <a:r>
              <a:rPr lang="en-US" sz="130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baseline linear e interpretável — a régua mínima de desempenho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529584"/>
            <a:ext cx="73152" cy="402336"/>
          </a:xfrm>
          <a:prstGeom prst="rect">
            <a:avLst/>
          </a:prstGeom>
          <a:solidFill>
            <a:srgbClr val="3F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13232" y="3529584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Random Forest: </a:t>
            </a:r>
            <a:r>
              <a:rPr lang="en-US" sz="130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conjunto de árvores; captura interações e é robusto a valores extremos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4041648"/>
            <a:ext cx="73152" cy="402336"/>
          </a:xfrm>
          <a:prstGeom prst="rect">
            <a:avLst/>
          </a:prstGeom>
          <a:solidFill>
            <a:srgbClr val="3F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13232" y="4041648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XGBoost: </a:t>
            </a:r>
            <a:r>
              <a:rPr lang="en-US" sz="130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boosting, estado da arte em dados tabulares, com regularização embutida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4645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800" dirty="0">
                <a:solidFill>
                  <a:srgbClr val="A9A8A9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Otimização por F1-score (métrica adequada a classes desbalanceadas); GridSearchCV com 5 dobras estratificadas; random_state = 42.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A8A9"/>
                </a:solidFill>
                <a:latin typeface="Avenir"/>
                <a:ea typeface="Avenir"/>
                <a:cs typeface="Avenir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A9A8A9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RESULTADOS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Random Forest vence nas métricas que importam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0"/>
          </a:xfrm>
          <a:prstGeom prst="line">
            <a:avLst/>
          </a:prstGeom>
          <a:noFill/>
          <a:ln w="19050">
            <a:solidFill>
              <a:srgbClr val="3F96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/sessions/gifted-exciting-thompson/mnt/outputs/wine-quality-classification/results/08_comparacao_model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249" y="1600200"/>
            <a:ext cx="5819503" cy="2880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37960" y="178308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3F96B4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F1 = 0,643
</a:t>
            </a:r>
            <a:r>
              <a:rPr lang="en-US" sz="115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equilíbrio entre achar os premium e não gerar falsos alarmes
</a:t>
            </a:r>
            <a:r>
              <a:rPr lang="en-US" sz="2200" b="1" dirty="0">
                <a:solidFill>
                  <a:srgbClr val="3F96B4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ROC AUC = 0,918
</a:t>
            </a:r>
            <a:r>
              <a:rPr lang="en-US" sz="115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maior capacidade de ordenar premium acima de comum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4645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800" dirty="0">
                <a:solidFill>
                  <a:srgbClr val="A9A8A9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Conjunto de teste: 204 amostras nunca vistas no treino. Em validação cruzada os três modelos empatam; a escolha considera o conjunto completo de métricas.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A8A9"/>
                </a:solidFill>
                <a:latin typeface="Avenir"/>
                <a:ea typeface="Avenir"/>
                <a:cs typeface="Avenir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A9A8A9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RESULTADOS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Dois em três premium detectados, 6% de falso alarme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0"/>
          </a:xfrm>
          <a:prstGeom prst="line">
            <a:avLst/>
          </a:prstGeom>
          <a:noFill/>
          <a:ln w="19050">
            <a:solidFill>
              <a:srgbClr val="3F96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/sessions/gifted-exciting-thompson/mnt/outputs/wine-quality-classification/results/10_matriz_confus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666" y="1600200"/>
            <a:ext cx="3468189" cy="2880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0" y="17830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722F3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18 de 27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583680" y="17830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vinhos premium do teste corretamente identificados (recall 67%)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0" y="2679192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722F3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11 de 177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583680" y="2679192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vinhos comuns apontados como premium por engano (6% de falsos positivos)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0" y="3575304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722F3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92%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583680" y="3575304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dos pares (premium, comum) ordenados na sequência certa (ROC AUC)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02920" y="4645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800" dirty="0">
                <a:solidFill>
                  <a:srgbClr val="A9A8A9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Matriz de confusão do Random Forest no conjunto de teste (204 amostras).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A8A9"/>
                </a:solidFill>
                <a:latin typeface="Avenir"/>
                <a:ea typeface="Avenir"/>
                <a:cs typeface="Avenir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A9A8A9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INTERPRETAÇÃO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Álcool, sulfatos e acidez volátil guiam o processo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0"/>
          </a:xfrm>
          <a:prstGeom prst="line">
            <a:avLst/>
          </a:prstGeom>
          <a:noFill/>
          <a:ln w="19050">
            <a:solidFill>
              <a:srgbClr val="3F96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/sessions/gifted-exciting-thompson/mnt/outputs/wine-quality-classification/results/12_importancia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94041"/>
            <a:ext cx="5760720" cy="24469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178308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Implicações para a produção
</a:t>
            </a:r>
            <a:r>
              <a:rPr lang="en-US" sz="115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1. Priorizar maturação que eleve o álcool natural
2. Manter acidez volátil abaixo de ≈ 0,5 g/L
3. Dosar sulfatos por perfil de lote: o efeito cresce com o teor alcoólico (a interação criada no projeto é a 2ª variável mais importante)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4645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800" dirty="0">
                <a:solidFill>
                  <a:srgbClr val="A9A8A9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Importância por redução de impureza (Random Forest) e coeficientes padronizados (Regressão Logística).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A8A9"/>
                </a:solidFill>
                <a:latin typeface="Avenir"/>
                <a:ea typeface="Avenir"/>
                <a:cs typeface="Avenir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A9A8A9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RECOMENDAÇÕES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Quatro passos levam o modelo à operação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0"/>
          </a:xfrm>
          <a:prstGeom prst="line">
            <a:avLst/>
          </a:prstGeom>
          <a:noFill/>
          <a:ln w="19050">
            <a:solidFill>
              <a:srgbClr val="3F96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02920" y="1728216"/>
            <a:ext cx="475488" cy="475488"/>
          </a:xfrm>
          <a:prstGeom prst="ellipse">
            <a:avLst/>
          </a:prstGeom>
          <a:solidFill>
            <a:srgbClr val="3F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02920" y="17282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69164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Triagem automática de lotes: </a:t>
            </a:r>
            <a:r>
              <a:rPr lang="en-US" sz="130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Ranquear pela probabilidade premium e degustar apenas os casos limítrofes — menos custo e mais velocidade.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441448"/>
            <a:ext cx="475488" cy="475488"/>
          </a:xfrm>
          <a:prstGeom prst="ellipse">
            <a:avLst/>
          </a:prstGeom>
          <a:solidFill>
            <a:srgbClr val="3F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02920" y="24414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404872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Alavancas de processo: </a:t>
            </a:r>
            <a:r>
              <a:rPr lang="en-US" sz="130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Atuar sobre álcool, acidez volátil e sulfatos, os direcionadores confirmados pelo modelo.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154680"/>
            <a:ext cx="475488" cy="475488"/>
          </a:xfrm>
          <a:prstGeom prst="ellipse">
            <a:avLst/>
          </a:prstGeom>
          <a:solidFill>
            <a:srgbClr val="3F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02920" y="31546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118104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Mais dados premium: </a:t>
            </a:r>
            <a:r>
              <a:rPr lang="en-US" sz="130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Ampliar a coleta (só 137 exemplos premium) e incorporar safra, casta e região — maior retorno esperado.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867912"/>
            <a:ext cx="475488" cy="475488"/>
          </a:xfrm>
          <a:prstGeom prst="ellipse">
            <a:avLst/>
          </a:prstGeom>
          <a:solidFill>
            <a:srgbClr val="3F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02920" y="38679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3831336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Evolução contínua: </a:t>
            </a:r>
            <a:r>
              <a:rPr lang="en-US" sz="1300" dirty="0">
                <a:solidFill>
                  <a:srgbClr val="898A8D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SMOTE, explicações SHAP por lote, calibração de probabilidades e limiar ajustado ao custo de cada erro.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A8A9"/>
                </a:solidFill>
                <a:latin typeface="Avenir"/>
                <a:ea typeface="Avenir"/>
                <a:cs typeface="Avenir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1920" y="1828800"/>
            <a:ext cx="1280160" cy="54864"/>
          </a:xfrm>
          <a:prstGeom prst="rect">
            <a:avLst/>
          </a:prstGeom>
          <a:solidFill>
            <a:srgbClr val="3F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210312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 err="1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Obrigada</a:t>
            </a:r>
            <a:r>
              <a:rPr lang="en-US" sz="4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2920" y="31089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9DBE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Código, notebook e análise completa disponíveis no repositório do projeto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42976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9A8A9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Tech Challenge — Fase 2 · POSTECH Data Analytics</a:t>
            </a:r>
            <a:endParaRPr lang="en-US" sz="14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1614F2C-24AC-9085-1406-5C5F979A31DF}"/>
              </a:ext>
            </a:extLst>
          </p:cNvPr>
          <p:cNvSpPr/>
          <p:nvPr/>
        </p:nvSpPr>
        <p:spPr>
          <a:xfrm>
            <a:off x="502920" y="401398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9A8A9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Ana Paula Corrêa Galdino – RM370461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1020</Words>
  <Application>Microsoft Office PowerPoint</Application>
  <PresentationFormat>Apresentação na tela (16:9)</PresentationFormat>
  <Paragraphs>125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Avenir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Microsoft Office PowerPoint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Challenge Fase 2 — Wine Quality</dc:title>
  <dc:subject>Tech Challenge — Fase 2</dc:subject>
  <dc:creator>Ana Paula Corrêa Galdino</dc:creator>
  <cp:lastModifiedBy>Ana Paula Corrêa Galdino</cp:lastModifiedBy>
  <cp:revision>2</cp:revision>
  <dcterms:created xsi:type="dcterms:W3CDTF">2026-07-08T23:32:54Z</dcterms:created>
  <dcterms:modified xsi:type="dcterms:W3CDTF">2026-07-09T00:09:46Z</dcterms:modified>
</cp:coreProperties>
</file>